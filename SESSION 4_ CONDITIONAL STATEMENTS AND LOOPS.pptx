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Montserrat-boldItalic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04fa57d2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04fa57d2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04fa57d2c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04fa57d2c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11edbc4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11edbc4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11edbc4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f11edbc4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04fa57d2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04fa57d2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04fa57d2c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04fa57d2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04fa57d2c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f04fa57d2c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04fa57d2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f04fa57d2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04fa57d2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04fa57d2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04fa57d2c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04fa57d2c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11edbc44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11edbc44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261625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Conditional Statements &amp; Loops in Python </a:t>
            </a:r>
            <a:endParaRPr sz="450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787675"/>
            <a:ext cx="49101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/>
              <a:t>Presented by - Vaishnavi Venkat </a:t>
            </a:r>
            <a:endParaRPr b="0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/>
              <a:t>                            3rd yr AIE</a:t>
            </a:r>
            <a:endParaRPr b="0" i="1"/>
          </a:p>
        </p:txBody>
      </p:sp>
      <p:sp>
        <p:nvSpPr>
          <p:cNvPr id="60" name="Google Shape;60;p13"/>
          <p:cNvSpPr txBox="1"/>
          <p:nvPr/>
        </p:nvSpPr>
        <p:spPr>
          <a:xfrm>
            <a:off x="344250" y="314950"/>
            <a:ext cx="5345100" cy="43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SESSION 4: 8th August 2024</a:t>
            </a:r>
            <a:endParaRPr b="1"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COURTESY CREDITS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W3 SCHOOLS </a:t>
            </a:r>
            <a:endParaRPr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YouTube lectures on python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CONDITIONS AND IF STATEMENTS 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supports the usual logical conditions from mathematics mostly in IF STATEMENT AND LOOPS</a:t>
            </a:r>
            <a:endParaRPr/>
          </a:p>
          <a:p>
            <a:pPr indent="-296148" lvl="0" marL="457200" rtl="0" algn="l">
              <a:spcBef>
                <a:spcPts val="1200"/>
              </a:spcBef>
              <a:spcAft>
                <a:spcPts val="0"/>
              </a:spcAft>
              <a:buSzPct val="56097"/>
              <a:buFont typeface="Verdana"/>
              <a:buChar char="●"/>
            </a:pPr>
            <a:r>
              <a:rPr b="1" lang="en" sz="20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Equals: </a:t>
            </a:r>
            <a:r>
              <a:rPr b="1" lang="en" sz="21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== b</a:t>
            </a:r>
            <a:endParaRPr b="1" sz="21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6148" lvl="0" marL="457200" rtl="0" algn="l">
              <a:spcBef>
                <a:spcPts val="0"/>
              </a:spcBef>
              <a:spcAft>
                <a:spcPts val="0"/>
              </a:spcAft>
              <a:buSzPct val="56097"/>
              <a:buFont typeface="Verdana"/>
              <a:buChar char="●"/>
            </a:pPr>
            <a:r>
              <a:rPr b="1" lang="en" sz="20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Not Equals: </a:t>
            </a:r>
            <a:r>
              <a:rPr b="1" lang="en" sz="21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!= b</a:t>
            </a:r>
            <a:endParaRPr b="1" sz="21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6148" lvl="0" marL="457200" rtl="0" algn="l">
              <a:spcBef>
                <a:spcPts val="0"/>
              </a:spcBef>
              <a:spcAft>
                <a:spcPts val="0"/>
              </a:spcAft>
              <a:buSzPct val="56097"/>
              <a:buFont typeface="Verdana"/>
              <a:buChar char="●"/>
            </a:pPr>
            <a:r>
              <a:rPr b="1" lang="en" sz="20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Less than: </a:t>
            </a:r>
            <a:r>
              <a:rPr b="1" lang="en" sz="21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&lt; b</a:t>
            </a:r>
            <a:endParaRPr b="1" sz="21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6148" lvl="0" marL="457200" rtl="0" algn="l">
              <a:spcBef>
                <a:spcPts val="0"/>
              </a:spcBef>
              <a:spcAft>
                <a:spcPts val="0"/>
              </a:spcAft>
              <a:buSzPct val="56097"/>
              <a:buFont typeface="Verdana"/>
              <a:buChar char="●"/>
            </a:pPr>
            <a:r>
              <a:rPr b="1" lang="en" sz="20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Less than or equal to: </a:t>
            </a:r>
            <a:r>
              <a:rPr b="1" lang="en" sz="21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&lt;= b</a:t>
            </a:r>
            <a:endParaRPr b="1" sz="21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6148" lvl="0" marL="457200" rtl="0" algn="l">
              <a:spcBef>
                <a:spcPts val="0"/>
              </a:spcBef>
              <a:spcAft>
                <a:spcPts val="0"/>
              </a:spcAft>
              <a:buSzPct val="56097"/>
              <a:buFont typeface="Verdana"/>
              <a:buChar char="●"/>
            </a:pPr>
            <a:r>
              <a:rPr b="1" lang="en" sz="20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Greater than: </a:t>
            </a:r>
            <a:r>
              <a:rPr b="1" lang="en" sz="21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&gt; b</a:t>
            </a:r>
            <a:endParaRPr b="1" sz="21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6148" lvl="0" marL="457200" rtl="0" algn="l">
              <a:spcBef>
                <a:spcPts val="0"/>
              </a:spcBef>
              <a:spcAft>
                <a:spcPts val="0"/>
              </a:spcAft>
              <a:buSzPct val="56097"/>
              <a:buFont typeface="Verdana"/>
              <a:buChar char="●"/>
            </a:pPr>
            <a:r>
              <a:rPr b="1" lang="en" sz="20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Greater than or equal to: </a:t>
            </a:r>
            <a:r>
              <a:rPr b="1" lang="en" sz="21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&gt;= b</a:t>
            </a:r>
            <a:endParaRPr b="1" sz="2100">
              <a:solidFill>
                <a:srgbClr val="DC14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IF STATEMENTS ARE WRITTEN USING </a:t>
            </a:r>
            <a:r>
              <a:rPr b="1" i="1" lang="en" sz="2124" u="sng">
                <a:solidFill>
                  <a:srgbClr val="FF0000"/>
                </a:solidFill>
              </a:rPr>
              <a:t>“if”</a:t>
            </a:r>
            <a:r>
              <a:rPr lang="en"/>
              <a:t> keyword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50" y="149025"/>
            <a:ext cx="8150900" cy="48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9723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 ..,IF - elif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079975"/>
            <a:ext cx="8520600" cy="3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1" lang="en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1" lang="en" sz="17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keyword is Python's way of saying "if the previous conditions were not true, then try this condition".</a:t>
            </a:r>
            <a:endParaRPr b="1" sz="17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279"/>
              <a:buFont typeface="Arial"/>
              <a:buNone/>
            </a:pP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b="1" lang="en" sz="1766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b="1" sz="1766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279"/>
              <a:buFont typeface="Arial"/>
              <a:buNone/>
            </a:pP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b="1" lang="en" sz="1766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b="1" sz="1766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279"/>
              <a:buFont typeface="Arial"/>
              <a:buNone/>
            </a:pPr>
            <a:r>
              <a:rPr b="1" lang="en" sz="1766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 &gt; a:</a:t>
            </a:r>
            <a:endParaRPr b="1" sz="1766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279"/>
              <a:buFont typeface="Arial"/>
              <a:buNone/>
            </a:pP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766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66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 is greater than a"</a:t>
            </a: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66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279"/>
              <a:buFont typeface="Arial"/>
              <a:buNone/>
            </a:pPr>
            <a:r>
              <a:rPr b="1" lang="en" sz="1766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 == b:</a:t>
            </a:r>
            <a:endParaRPr b="1" sz="1766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766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66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 and b are equal"</a:t>
            </a:r>
            <a:r>
              <a:rPr b="1" lang="en" sz="1766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366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08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911075"/>
            <a:ext cx="8520600" cy="39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3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1" lang="en" sz="1933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883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keyword catches anything which isn't caught by the preceding conditions</a:t>
            </a:r>
            <a:r>
              <a:rPr lang="en" sz="1883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</a:t>
            </a:r>
            <a:endParaRPr sz="1883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b="1" lang="en" sz="1758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1" sz="1758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b="1" lang="en" sz="1758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b="1" sz="1758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 &gt; a:</a:t>
            </a:r>
            <a:endParaRPr b="1" sz="1758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758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58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 is greater than a"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58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 == b:</a:t>
            </a:r>
            <a:endParaRPr b="1" sz="1758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758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58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 and b are equal"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58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2567"/>
              <a:buFont typeface="Arial"/>
              <a:buNone/>
            </a:pPr>
            <a:r>
              <a:rPr b="1" lang="en" sz="1758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758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758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58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 is greater than b"</a:t>
            </a:r>
            <a:r>
              <a:rPr b="1" lang="en" sz="175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158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SHORTHAND</a:t>
            </a:r>
            <a:r>
              <a:rPr b="1" lang="en"/>
              <a:t> IF</a:t>
            </a:r>
            <a:endParaRPr b="1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If you have only one statement to execute, you can put it on the same line as the if statement.</a:t>
            </a:r>
            <a:endParaRPr b="1" sz="17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7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 &gt; b: </a:t>
            </a:r>
            <a:r>
              <a:rPr b="1" lang="en" sz="17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7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 is greater than b"</a:t>
            </a:r>
            <a:r>
              <a:rPr b="1" lang="en" sz="17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AND, OR ,NOT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252450" y="12103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- BOTH THE CONDITIONS ARE TRUE   - </a:t>
            </a:r>
            <a:r>
              <a:rPr lang="en">
                <a:solidFill>
                  <a:srgbClr val="FF0000"/>
                </a:solidFill>
              </a:rPr>
              <a:t>and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 - </a:t>
            </a:r>
            <a:r>
              <a:rPr lang="en"/>
              <a:t>AT LEAST</a:t>
            </a:r>
            <a:r>
              <a:rPr lang="en"/>
              <a:t> ONE CONDITION IS TRUE    - </a:t>
            </a:r>
            <a:r>
              <a:rPr lang="en">
                <a:solidFill>
                  <a:srgbClr val="FF0000"/>
                </a:solidFill>
              </a:rPr>
              <a:t>or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- USED TO REVERSE THE RESULT      - </a:t>
            </a:r>
            <a:r>
              <a:rPr lang="en">
                <a:solidFill>
                  <a:srgbClr val="FF0000"/>
                </a:solidFill>
              </a:rPr>
              <a:t>not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08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IF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780700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You can have </a:t>
            </a:r>
            <a:r>
              <a:rPr b="1" lang="en" sz="16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statements inside </a:t>
            </a:r>
            <a:r>
              <a:rPr b="1" lang="en" sz="16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statements, this is called </a:t>
            </a:r>
            <a:r>
              <a:rPr b="1" i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nested</a:t>
            </a: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" sz="16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statements.</a:t>
            </a:r>
            <a:endParaRPr b="1" sz="15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b="1" lang="en" sz="15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41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&gt; </a:t>
            </a:r>
            <a:r>
              <a:rPr b="1" lang="en" sz="15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5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5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5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"Above ten,"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5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5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&gt; </a:t>
            </a:r>
            <a:r>
              <a:rPr b="1" lang="en" sz="15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5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5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5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"and also above 20!"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5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5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5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5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5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"but not above 20."</a:t>
            </a:r>
            <a:r>
              <a:rPr b="1" lang="en" sz="15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5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With the </a:t>
            </a:r>
            <a:r>
              <a:rPr b="1" lang="en" sz="16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5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loop we can execute a set of statements as long as a condition is true.</a:t>
            </a:r>
            <a:endParaRPr b="1" sz="15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" sz="2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2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2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&lt; </a:t>
            </a:r>
            <a:r>
              <a:rPr b="1" lang="en" sz="2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en" sz="2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2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20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2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(i)</a:t>
            </a:r>
            <a:endParaRPr b="1" sz="2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i += </a:t>
            </a:r>
            <a:r>
              <a:rPr b="1" lang="en" sz="2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24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325" y="243825"/>
            <a:ext cx="4609350" cy="47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